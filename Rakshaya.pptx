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7" r:id="rId3"/>
    <p:sldId id="278" r:id="rId4"/>
    <p:sldId id="259" r:id="rId5"/>
    <p:sldId id="260" r:id="rId6"/>
    <p:sldId id="279" r:id="rId7"/>
    <p:sldId id="263" r:id="rId8"/>
    <p:sldId id="264" r:id="rId9"/>
    <p:sldId id="266" r:id="rId10"/>
    <p:sldId id="269" r:id="rId11"/>
    <p:sldId id="270" r:id="rId12"/>
    <p:sldId id="272" r:id="rId13"/>
    <p:sldId id="273" r:id="rId14"/>
    <p:sldId id="276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41775" y="629538"/>
            <a:ext cx="219710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13" Type="http://schemas.openxmlformats.org/officeDocument/2006/relationships/image" Target="../media/image7.png" /><Relationship Id="rId18" Type="http://schemas.openxmlformats.org/officeDocument/2006/relationships/image" Target="../media/image12.png" /><Relationship Id="rId26" Type="http://schemas.openxmlformats.org/officeDocument/2006/relationships/image" Target="../media/image20.png" /><Relationship Id="rId39" Type="http://schemas.openxmlformats.org/officeDocument/2006/relationships/image" Target="../media/image33.png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15.png" /><Relationship Id="rId34" Type="http://schemas.openxmlformats.org/officeDocument/2006/relationships/image" Target="../media/image28.png" /><Relationship Id="rId42" Type="http://schemas.openxmlformats.org/officeDocument/2006/relationships/image" Target="../media/image36.png" /><Relationship Id="rId7" Type="http://schemas.openxmlformats.org/officeDocument/2006/relationships/image" Target="../media/image1.png" /><Relationship Id="rId12" Type="http://schemas.openxmlformats.org/officeDocument/2006/relationships/image" Target="../media/image6.png" /><Relationship Id="rId17" Type="http://schemas.openxmlformats.org/officeDocument/2006/relationships/image" Target="../media/image11.png" /><Relationship Id="rId25" Type="http://schemas.openxmlformats.org/officeDocument/2006/relationships/image" Target="../media/image19.png" /><Relationship Id="rId33" Type="http://schemas.openxmlformats.org/officeDocument/2006/relationships/image" Target="../media/image27.png" /><Relationship Id="rId38" Type="http://schemas.openxmlformats.org/officeDocument/2006/relationships/image" Target="../media/image32.png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10.png" /><Relationship Id="rId20" Type="http://schemas.openxmlformats.org/officeDocument/2006/relationships/image" Target="../media/image14.png" /><Relationship Id="rId29" Type="http://schemas.openxmlformats.org/officeDocument/2006/relationships/image" Target="../media/image23.png" /><Relationship Id="rId41" Type="http://schemas.openxmlformats.org/officeDocument/2006/relationships/image" Target="../media/image35.png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11" Type="http://schemas.openxmlformats.org/officeDocument/2006/relationships/image" Target="../media/image5.png" /><Relationship Id="rId24" Type="http://schemas.openxmlformats.org/officeDocument/2006/relationships/image" Target="../media/image18.png" /><Relationship Id="rId32" Type="http://schemas.openxmlformats.org/officeDocument/2006/relationships/image" Target="../media/image26.png" /><Relationship Id="rId37" Type="http://schemas.openxmlformats.org/officeDocument/2006/relationships/image" Target="../media/image31.png" /><Relationship Id="rId40" Type="http://schemas.openxmlformats.org/officeDocument/2006/relationships/image" Target="../media/image34.png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9.png" /><Relationship Id="rId23" Type="http://schemas.openxmlformats.org/officeDocument/2006/relationships/image" Target="../media/image17.png" /><Relationship Id="rId28" Type="http://schemas.openxmlformats.org/officeDocument/2006/relationships/image" Target="../media/image22.png" /><Relationship Id="rId36" Type="http://schemas.openxmlformats.org/officeDocument/2006/relationships/image" Target="../media/image30.png" /><Relationship Id="rId10" Type="http://schemas.openxmlformats.org/officeDocument/2006/relationships/image" Target="../media/image4.png" /><Relationship Id="rId19" Type="http://schemas.openxmlformats.org/officeDocument/2006/relationships/image" Target="../media/image13.png" /><Relationship Id="rId31" Type="http://schemas.openxmlformats.org/officeDocument/2006/relationships/image" Target="../media/image25.png" /><Relationship Id="rId4" Type="http://schemas.openxmlformats.org/officeDocument/2006/relationships/slideLayout" Target="../slideLayouts/slideLayout4.xml" /><Relationship Id="rId9" Type="http://schemas.openxmlformats.org/officeDocument/2006/relationships/image" Target="../media/image3.png" /><Relationship Id="rId14" Type="http://schemas.openxmlformats.org/officeDocument/2006/relationships/image" Target="../media/image8.png" /><Relationship Id="rId22" Type="http://schemas.openxmlformats.org/officeDocument/2006/relationships/image" Target="../media/image16.png" /><Relationship Id="rId27" Type="http://schemas.openxmlformats.org/officeDocument/2006/relationships/image" Target="../media/image21.png" /><Relationship Id="rId30" Type="http://schemas.openxmlformats.org/officeDocument/2006/relationships/image" Target="../media/image24.png" /><Relationship Id="rId35" Type="http://schemas.openxmlformats.org/officeDocument/2006/relationships/image" Target="../media/image29.png" /><Relationship Id="rId43" Type="http://schemas.openxmlformats.org/officeDocument/2006/relationships/image" Target="../media/image37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00" y="9525"/>
            <a:ext cx="28575" cy="2181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" y="2181225"/>
            <a:ext cx="190500" cy="190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575" y="4019550"/>
            <a:ext cx="190500" cy="190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0025" y="9525"/>
            <a:ext cx="371475" cy="18097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4825" y="1800225"/>
            <a:ext cx="190500" cy="1905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5750" y="9525"/>
            <a:ext cx="371475" cy="142875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2925" y="0"/>
            <a:ext cx="152400" cy="9144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0550" y="1419225"/>
            <a:ext cx="190500" cy="1905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0550" y="904875"/>
            <a:ext cx="190500" cy="1905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8175" y="0"/>
            <a:ext cx="428625" cy="52387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26318" y="485775"/>
            <a:ext cx="147637" cy="1524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525" y="1800225"/>
            <a:ext cx="123825" cy="13335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0" y="3552825"/>
            <a:ext cx="142875" cy="47625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3825" y="1381125"/>
            <a:ext cx="142875" cy="47625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00025" y="1847850"/>
            <a:ext cx="114300" cy="11430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3350" y="4667250"/>
            <a:ext cx="28575" cy="218122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19075" y="5038725"/>
            <a:ext cx="371475" cy="180975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625" y="4486275"/>
            <a:ext cx="190500" cy="19050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0" y="5629275"/>
            <a:ext cx="66675" cy="12192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23875" y="4867275"/>
            <a:ext cx="190500" cy="19050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800" y="5419725"/>
            <a:ext cx="381000" cy="142875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71500" y="5943600"/>
            <a:ext cx="152400" cy="9144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09600" y="5248275"/>
            <a:ext cx="190500" cy="1905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09600" y="5762625"/>
            <a:ext cx="190500" cy="1905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6750" y="6334125"/>
            <a:ext cx="419100" cy="51435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047750" y="6219825"/>
            <a:ext cx="154564" cy="1524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487150" y="0"/>
            <a:ext cx="419100" cy="51435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370703" y="476250"/>
            <a:ext cx="154546" cy="1524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630025" y="1543050"/>
            <a:ext cx="190500" cy="1905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534775" y="5695950"/>
            <a:ext cx="295275" cy="1152525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772900" y="5553075"/>
            <a:ext cx="161925" cy="1524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1706225" y="9525"/>
            <a:ext cx="304800" cy="154305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1639550" y="4867275"/>
            <a:ext cx="190500" cy="1905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439525" y="5048250"/>
            <a:ext cx="304800" cy="1800225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1849100" y="6419850"/>
            <a:ext cx="190500" cy="1905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1934825" y="6600825"/>
            <a:ext cx="28575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1044" y="848613"/>
            <a:ext cx="9266808" cy="1122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56129" y="1403667"/>
            <a:ext cx="5300345" cy="439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 /><Relationship Id="rId3" Type="http://schemas.openxmlformats.org/officeDocument/2006/relationships/image" Target="../media/image38.png" /><Relationship Id="rId7" Type="http://schemas.openxmlformats.org/officeDocument/2006/relationships/image" Target="../media/image4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1.png" /><Relationship Id="rId11" Type="http://schemas.openxmlformats.org/officeDocument/2006/relationships/image" Target="../media/image46.png" /><Relationship Id="rId5" Type="http://schemas.openxmlformats.org/officeDocument/2006/relationships/image" Target="../media/image40.png" /><Relationship Id="rId10" Type="http://schemas.openxmlformats.org/officeDocument/2006/relationships/image" Target="../media/image45.png" /><Relationship Id="rId4" Type="http://schemas.openxmlformats.org/officeDocument/2006/relationships/image" Target="../media/image39.png" /><Relationship Id="rId9" Type="http://schemas.openxmlformats.org/officeDocument/2006/relationships/image" Target="../media/image44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 /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 /><Relationship Id="rId2" Type="http://schemas.openxmlformats.org/officeDocument/2006/relationships/image" Target="../media/image50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0"/>
              <a:ext cx="1164431" cy="23717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52825"/>
              <a:ext cx="219075" cy="657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0703" y="0"/>
              <a:ext cx="535546" cy="628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4775" y="5553075"/>
              <a:ext cx="504825" cy="1295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0025" y="9525"/>
              <a:ext cx="381000" cy="17240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6300" y="12668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71675" y="9906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52850" y="1190625"/>
              <a:ext cx="1666875" cy="1438275"/>
            </a:xfrm>
            <a:custGeom>
              <a:avLst/>
              <a:gdLst/>
              <a:ahLst/>
              <a:cxnLst/>
              <a:rect l="l" t="t" r="r" b="b"/>
              <a:pathLst>
                <a:path w="1666875" h="1438275">
                  <a:moveTo>
                    <a:pt x="1307338" y="0"/>
                  </a:moveTo>
                  <a:lnTo>
                    <a:pt x="359537" y="0"/>
                  </a:lnTo>
                  <a:lnTo>
                    <a:pt x="0" y="719074"/>
                  </a:lnTo>
                  <a:lnTo>
                    <a:pt x="359537" y="1438275"/>
                  </a:lnTo>
                  <a:lnTo>
                    <a:pt x="1307338" y="1438275"/>
                  </a:lnTo>
                  <a:lnTo>
                    <a:pt x="1666875" y="719074"/>
                  </a:lnTo>
                  <a:lnTo>
                    <a:pt x="1307338" y="0"/>
                  </a:lnTo>
                  <a:close/>
                </a:path>
              </a:pathLst>
            </a:custGeom>
            <a:solidFill>
              <a:srgbClr val="42D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6675" y="5295900"/>
              <a:ext cx="723900" cy="619125"/>
            </a:xfrm>
            <a:custGeom>
              <a:avLst/>
              <a:gdLst/>
              <a:ahLst/>
              <a:cxnLst/>
              <a:rect l="l" t="t" r="r" b="b"/>
              <a:pathLst>
                <a:path w="723900" h="619125">
                  <a:moveTo>
                    <a:pt x="569087" y="0"/>
                  </a:moveTo>
                  <a:lnTo>
                    <a:pt x="154812" y="0"/>
                  </a:lnTo>
                  <a:lnTo>
                    <a:pt x="0" y="309625"/>
                  </a:lnTo>
                  <a:lnTo>
                    <a:pt x="154812" y="619125"/>
                  </a:lnTo>
                  <a:lnTo>
                    <a:pt x="569087" y="619125"/>
                  </a:lnTo>
                  <a:lnTo>
                    <a:pt x="723900" y="309625"/>
                  </a:lnTo>
                  <a:lnTo>
                    <a:pt x="569087" y="0"/>
                  </a:lnTo>
                  <a:close/>
                </a:path>
              </a:pathLst>
            </a:custGeom>
            <a:solidFill>
              <a:srgbClr val="42AD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193159" y="739393"/>
            <a:ext cx="222885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3200" spc="-10">
                <a:solidFill>
                  <a:srgbClr val="0D0D0D"/>
                </a:solidFill>
                <a:latin typeface="Times New Roman"/>
                <a:cs typeface="Times New Roman"/>
              </a:rPr>
              <a:t>DIGITAL </a:t>
            </a:r>
            <a:r>
              <a:rPr sz="3200" spc="-4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39732" y="2861945"/>
            <a:ext cx="6890068" cy="18889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5400" marR="337185" indent="-12700">
              <a:lnSpc>
                <a:spcPct val="100600"/>
              </a:lnSpc>
              <a:spcBef>
                <a:spcPts val="85"/>
              </a:spcBef>
              <a:tabLst>
                <a:tab pos="198564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24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NAME:</a:t>
            </a:r>
            <a:r>
              <a:rPr lang="en-US"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400" spc="-10" dirty="0">
                <a:solidFill>
                  <a:srgbClr val="FFFFFF"/>
                </a:solidFill>
                <a:latin typeface="Calibri"/>
                <a:cs typeface="Calibri"/>
              </a:rPr>
              <a:t>D.RAKSHAYA</a:t>
            </a:r>
            <a:endParaRPr lang="en-US" sz="2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" marR="337185" indent="-12700">
              <a:lnSpc>
                <a:spcPct val="100600"/>
              </a:lnSpc>
              <a:spcBef>
                <a:spcPts val="85"/>
              </a:spcBef>
              <a:tabLst>
                <a:tab pos="1985645" algn="l"/>
              </a:tabLst>
            </a:pPr>
            <a:r>
              <a:rPr lang="en-US" sz="2400" spc="-10" dirty="0">
                <a:solidFill>
                  <a:srgbClr val="FFFFFF"/>
                </a:solidFill>
                <a:latin typeface="Calibri"/>
                <a:cs typeface="Calibri"/>
              </a:rPr>
              <a:t>RESGITER NO : 241</a:t>
            </a:r>
            <a:r>
              <a:rPr lang="en-IN" sz="2400" spc="-10" dirty="0">
                <a:solidFill>
                  <a:srgbClr val="FFFFFF"/>
                </a:solidFill>
                <a:latin typeface="Calibri"/>
                <a:cs typeface="Calibri"/>
              </a:rPr>
              <a:t>31031802522046</a:t>
            </a:r>
            <a:endParaRPr lang="en-US" sz="2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" marR="337185" indent="-12700">
              <a:lnSpc>
                <a:spcPct val="100600"/>
              </a:lnSpc>
              <a:spcBef>
                <a:spcPts val="85"/>
              </a:spcBef>
              <a:tabLst>
                <a:tab pos="198564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NMID:</a:t>
            </a:r>
            <a:r>
              <a:rPr lang="en-IN" sz="2400" spc="-10" dirty="0">
                <a:solidFill>
                  <a:srgbClr val="FFFFFF"/>
                </a:solidFill>
                <a:latin typeface="Calibri"/>
                <a:cs typeface="Calibri"/>
              </a:rPr>
              <a:t>92728F1DC473C91824B4C19E387BEE52</a:t>
            </a:r>
            <a:r>
              <a:rPr lang="en-US"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dirty="0"/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DEPARTMENT: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IN" sz="2000" b="1" spc="-40" dirty="0">
                <a:solidFill>
                  <a:srgbClr val="FFFFFF"/>
                </a:solidFill>
                <a:latin typeface="Calibri"/>
                <a:cs typeface="Calibri"/>
              </a:rPr>
              <a:t>B.SC  COMPUTER SCIENCE  II- YEAR</a:t>
            </a:r>
            <a:endParaRPr sz="2400" dirty="0">
              <a:latin typeface="Calibri"/>
              <a:cs typeface="Calibri"/>
            </a:endParaRPr>
          </a:p>
          <a:p>
            <a:pPr marL="25400">
              <a:lnSpc>
                <a:spcPts val="2855"/>
              </a:lnSpc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COLLEGE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GOVERNMENT</a:t>
            </a:r>
            <a:r>
              <a:rPr sz="2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ARTS</a:t>
            </a:r>
            <a:r>
              <a:rPr sz="2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COLLEGE</a:t>
            </a:r>
            <a:r>
              <a:rPr lang="en-US" sz="2000" b="1" spc="-10" dirty="0">
                <a:solidFill>
                  <a:srgbClr val="FFFFFF"/>
                </a:solidFill>
                <a:latin typeface="Calibri"/>
                <a:cs typeface="Calibri"/>
              </a:rPr>
              <a:t>,B.MUTLUR</a:t>
            </a:r>
            <a:r>
              <a:rPr lang="en-US" sz="2400" b="1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6029-73E3-4743-A82E-7F05ECD8C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533400"/>
            <a:ext cx="4949825" cy="553998"/>
          </a:xfrm>
        </p:spPr>
        <p:txBody>
          <a:bodyPr/>
          <a:lstStyle/>
          <a:p>
            <a:pPr algn="ctr"/>
            <a:r>
              <a:rPr lang="en-US" sz="3600" spc="-40">
                <a:solidFill>
                  <a:srgbClr val="0D0D0D"/>
                </a:solidFill>
                <a:latin typeface="Times New Roman"/>
                <a:cs typeface="Times New Roman"/>
              </a:rPr>
              <a:t>PROJECT TITTLE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0CF57-D52C-4A76-B8BD-930433E4D02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905000" y="1752600"/>
            <a:ext cx="8763000" cy="2350131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lang="en-US" sz="3200" b="1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3200" b="1" spc="-10">
                <a:solidFill>
                  <a:srgbClr val="FFFFFF"/>
                </a:solidFill>
                <a:latin typeface="Calibri"/>
                <a:cs typeface="Calibri"/>
              </a:rPr>
              <a:t>Portfolio</a:t>
            </a:r>
            <a:endParaRPr lang="en-US" sz="3200">
              <a:latin typeface="Calibri"/>
              <a:cs typeface="Calibri"/>
            </a:endParaRPr>
          </a:p>
          <a:p>
            <a:pPr marL="53975" marR="5080">
              <a:lnSpc>
                <a:spcPct val="100800"/>
              </a:lnSpc>
              <a:spcBef>
                <a:spcPts val="1750"/>
              </a:spcBef>
            </a:pP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en-US" sz="1800" b="1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lang="en-US"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10">
                <a:solidFill>
                  <a:srgbClr val="FFFFFF"/>
                </a:solidFill>
                <a:latin typeface="Calibri"/>
                <a:cs typeface="Calibri"/>
              </a:rPr>
              <a:t>Portfolio</a:t>
            </a:r>
            <a:r>
              <a:rPr lang="en-US"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lang="en-US" sz="1800" spc="-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en-US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lang="en-US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r>
              <a:rPr lang="en-US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lang="en-US" sz="18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20">
                <a:solidFill>
                  <a:srgbClr val="FFFFFF"/>
                </a:solidFill>
                <a:latin typeface="Calibri"/>
                <a:cs typeface="Calibri"/>
              </a:rPr>
              <a:t>displays </a:t>
            </a:r>
            <a:r>
              <a:rPr lang="en-US" sz="1800" spc="-25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lang="en-US" sz="1800" spc="-30">
                <a:solidFill>
                  <a:srgbClr val="FFFFFF"/>
                </a:solidFill>
                <a:latin typeface="Calibri"/>
                <a:cs typeface="Calibri"/>
              </a:rPr>
              <a:t>individual’s</a:t>
            </a:r>
            <a:r>
              <a:rPr lang="en-US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lang="en-US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lang="en-US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projects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lang="en-US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20">
                <a:solidFill>
                  <a:srgbClr val="FFFFFF"/>
                </a:solidFill>
                <a:latin typeface="Calibri"/>
                <a:cs typeface="Calibri"/>
              </a:rPr>
              <a:t>achievements</a:t>
            </a:r>
            <a:r>
              <a:rPr lang="en-US"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lang="en-US"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lang="en-US" sz="1800" spc="-25">
                <a:solidFill>
                  <a:srgbClr val="FFFFFF"/>
                </a:solidFill>
                <a:latin typeface="Calibri"/>
                <a:cs typeface="Calibri"/>
              </a:rPr>
              <a:t>well-</a:t>
            </a:r>
            <a:r>
              <a:rPr lang="en-US" sz="1800" spc="-35">
                <a:solidFill>
                  <a:srgbClr val="FFFFFF"/>
                </a:solidFill>
                <a:latin typeface="Calibri"/>
                <a:cs typeface="Calibri"/>
              </a:rPr>
              <a:t>organized</a:t>
            </a:r>
            <a:r>
              <a:rPr lang="en-US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20">
                <a:solidFill>
                  <a:srgbClr val="FFFFFF"/>
                </a:solidFill>
                <a:latin typeface="Calibri"/>
                <a:cs typeface="Calibri"/>
              </a:rPr>
              <a:t>attractive</a:t>
            </a:r>
            <a:r>
              <a:rPr lang="en-US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solidFill>
                  <a:srgbClr val="FFFFFF"/>
                </a:solidFill>
                <a:latin typeface="Calibri"/>
                <a:cs typeface="Calibri"/>
              </a:rPr>
              <a:t>format.</a:t>
            </a:r>
            <a:endParaRPr lang="en-US" sz="1800">
              <a:latin typeface="Calibri"/>
              <a:cs typeface="Calibri"/>
            </a:endParaRPr>
          </a:p>
          <a:p>
            <a:pPr marL="41910" marR="151130">
              <a:lnSpc>
                <a:spcPct val="100899"/>
              </a:lnSpc>
              <a:spcBef>
                <a:spcPts val="1800"/>
              </a:spcBef>
            </a:pP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lang="en-US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lang="en-US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designed</a:t>
            </a:r>
            <a:r>
              <a:rPr lang="en-US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lang="en-US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lang="en-US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lang="en-US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1800" b="1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optionally</a:t>
            </a:r>
            <a:r>
              <a:rPr lang="en-US" sz="18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20">
                <a:solidFill>
                  <a:srgbClr val="FFFFFF"/>
                </a:solidFill>
                <a:latin typeface="Calibri"/>
                <a:cs typeface="Calibri"/>
              </a:rPr>
              <a:t>JavaScript</a:t>
            </a:r>
            <a:r>
              <a:rPr lang="en-US" sz="1800" b="1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lang="en-US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en-US" sz="1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lang="en-US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solidFill>
                  <a:srgbClr val="FFFFFF"/>
                </a:solidFill>
                <a:latin typeface="Calibri"/>
                <a:cs typeface="Calibri"/>
              </a:rPr>
              <a:t>responsive</a:t>
            </a:r>
            <a:r>
              <a:rPr lang="en-US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solidFill>
                  <a:srgbClr val="FFFFFF"/>
                </a:solidFill>
                <a:latin typeface="Calibri"/>
                <a:cs typeface="Calibri"/>
              </a:rPr>
              <a:t>layout.</a:t>
            </a:r>
            <a:endParaRPr lang="en-US" sz="1800">
              <a:latin typeface="Calibri"/>
              <a:cs typeface="Calibr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0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5F0A-5A4C-4F09-B70D-5D68D62B9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629538"/>
            <a:ext cx="3581399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086C5-021E-4301-9F52-F23D7DF1968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0" y="1219200"/>
            <a:ext cx="8839200" cy="5585312"/>
          </a:xfrm>
        </p:spPr>
        <p:txBody>
          <a:bodyPr/>
          <a:lstStyle/>
          <a:p>
            <a:pPr marL="278130" indent="-265430">
              <a:lnSpc>
                <a:spcPct val="150000"/>
              </a:lnSpc>
              <a:spcBef>
                <a:spcPts val="130"/>
              </a:spcBef>
              <a:buSzPct val="90909"/>
              <a:buAutoNum type="arabicPeriod"/>
              <a:tabLst>
                <a:tab pos="278130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Problem</a:t>
            </a:r>
            <a:r>
              <a:rPr lang="en-US" sz="2400" spc="114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Statement</a:t>
            </a:r>
            <a:endParaRPr lang="en-US" sz="2400">
              <a:latin typeface="Times New Roman"/>
              <a:cs typeface="Times New Roman"/>
            </a:endParaRPr>
          </a:p>
          <a:p>
            <a:pPr marL="278765" indent="-266065">
              <a:lnSpc>
                <a:spcPct val="150000"/>
              </a:lnSpc>
              <a:spcBef>
                <a:spcPts val="155"/>
              </a:spcBef>
              <a:buSzPct val="90909"/>
              <a:buAutoNum type="arabicPeriod"/>
              <a:tabLst>
                <a:tab pos="278765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Project</a:t>
            </a:r>
            <a:r>
              <a:rPr lang="en-US" sz="2400" spc="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Overview</a:t>
            </a:r>
            <a:endParaRPr lang="en-US" sz="2400">
              <a:latin typeface="Times New Roman"/>
              <a:cs typeface="Times New Roman"/>
            </a:endParaRPr>
          </a:p>
          <a:p>
            <a:pPr marL="278765" indent="-266065">
              <a:lnSpc>
                <a:spcPct val="150000"/>
              </a:lnSpc>
              <a:spcBef>
                <a:spcPts val="5"/>
              </a:spcBef>
              <a:buSzPct val="90909"/>
              <a:buAutoNum type="arabicPeriod"/>
              <a:tabLst>
                <a:tab pos="278765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End</a:t>
            </a:r>
            <a:r>
              <a:rPr lang="en-US" sz="2400" spc="8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20">
                <a:solidFill>
                  <a:srgbClr val="0D0D0D"/>
                </a:solidFill>
                <a:latin typeface="Times New Roman"/>
                <a:cs typeface="Times New Roman"/>
              </a:rPr>
              <a:t>Users</a:t>
            </a:r>
            <a:endParaRPr lang="en-US" sz="2400">
              <a:latin typeface="Times New Roman"/>
              <a:cs typeface="Times New Roman"/>
            </a:endParaRPr>
          </a:p>
          <a:p>
            <a:pPr marL="278765" indent="-266065">
              <a:lnSpc>
                <a:spcPct val="150000"/>
              </a:lnSpc>
              <a:spcBef>
                <a:spcPts val="80"/>
              </a:spcBef>
              <a:buSzPct val="90909"/>
              <a:buAutoNum type="arabicPeriod"/>
              <a:tabLst>
                <a:tab pos="278765" algn="l"/>
              </a:tabLst>
            </a:pPr>
            <a:r>
              <a:rPr lang="en-US" sz="2400" spc="-20">
                <a:solidFill>
                  <a:srgbClr val="0D0D0D"/>
                </a:solidFill>
                <a:latin typeface="Times New Roman"/>
                <a:cs typeface="Times New Roman"/>
              </a:rPr>
              <a:t>Tools</a:t>
            </a:r>
            <a:r>
              <a:rPr lang="en-US" sz="2400" spc="-114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lang="en-US" sz="2400" spc="-18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Technologies</a:t>
            </a:r>
            <a:endParaRPr lang="en-US" sz="2400">
              <a:latin typeface="Times New Roman"/>
              <a:cs typeface="Times New Roman"/>
            </a:endParaRPr>
          </a:p>
          <a:p>
            <a:pPr marL="278765" indent="-266065">
              <a:lnSpc>
                <a:spcPct val="150000"/>
              </a:lnSpc>
              <a:spcBef>
                <a:spcPts val="80"/>
              </a:spcBef>
              <a:buSzPct val="90909"/>
              <a:buAutoNum type="arabicPeriod"/>
              <a:tabLst>
                <a:tab pos="278765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r>
              <a:rPr lang="en-US" sz="2400" spc="7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design</a:t>
            </a:r>
            <a:r>
              <a:rPr lang="en-US" sz="2400" spc="6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lang="en-US" sz="2400" spc="7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Layout</a:t>
            </a:r>
            <a:endParaRPr lang="en-US" sz="2400">
              <a:latin typeface="Times New Roman"/>
              <a:cs typeface="Times New Roman"/>
            </a:endParaRPr>
          </a:p>
          <a:p>
            <a:pPr marL="278130" indent="-265430">
              <a:lnSpc>
                <a:spcPct val="150000"/>
              </a:lnSpc>
              <a:spcBef>
                <a:spcPts val="155"/>
              </a:spcBef>
              <a:buSzPct val="90909"/>
              <a:buAutoNum type="arabicPeriod"/>
              <a:tabLst>
                <a:tab pos="278130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Features</a:t>
            </a:r>
            <a:r>
              <a:rPr lang="en-US" sz="2400" spc="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lang="en-US" sz="2400" spc="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Functionality</a:t>
            </a:r>
            <a:endParaRPr lang="en-US" sz="2400">
              <a:latin typeface="Times New Roman"/>
              <a:cs typeface="Times New Roman"/>
            </a:endParaRPr>
          </a:p>
          <a:p>
            <a:pPr marL="278130" indent="-265430">
              <a:lnSpc>
                <a:spcPct val="150000"/>
              </a:lnSpc>
              <a:spcBef>
                <a:spcPts val="75"/>
              </a:spcBef>
              <a:buSzPct val="90909"/>
              <a:buAutoNum type="arabicPeriod"/>
              <a:tabLst>
                <a:tab pos="278130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Results</a:t>
            </a:r>
            <a:r>
              <a:rPr lang="en-US" sz="2400" spc="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lang="en-US" sz="2400" spc="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Screenshots</a:t>
            </a:r>
            <a:endParaRPr lang="en-US" sz="2400">
              <a:latin typeface="Times New Roman"/>
              <a:cs typeface="Times New Roman"/>
            </a:endParaRPr>
          </a:p>
          <a:p>
            <a:pPr marL="278130" indent="-265430">
              <a:lnSpc>
                <a:spcPct val="150000"/>
              </a:lnSpc>
              <a:spcBef>
                <a:spcPts val="5"/>
              </a:spcBef>
              <a:buSzPct val="90909"/>
              <a:buAutoNum type="arabicPeriod"/>
              <a:tabLst>
                <a:tab pos="278130" algn="l"/>
              </a:tabLst>
            </a:pPr>
            <a:r>
              <a:rPr lang="en-US" sz="2400" spc="-10">
                <a:solidFill>
                  <a:srgbClr val="0D0D0D"/>
                </a:solidFill>
                <a:latin typeface="Times New Roman"/>
                <a:cs typeface="Times New Roman"/>
              </a:rPr>
              <a:t>Conclusion</a:t>
            </a:r>
            <a:endParaRPr lang="en-US" sz="2400">
              <a:latin typeface="Times New Roman"/>
              <a:cs typeface="Times New Roman"/>
            </a:endParaRPr>
          </a:p>
          <a:p>
            <a:pPr marL="278765" indent="-266065">
              <a:lnSpc>
                <a:spcPct val="150000"/>
              </a:lnSpc>
              <a:spcBef>
                <a:spcPts val="80"/>
              </a:spcBef>
              <a:buSzPct val="90909"/>
              <a:buAutoNum type="arabicPeriod"/>
              <a:tabLst>
                <a:tab pos="278765" algn="l"/>
              </a:tabLst>
            </a:pPr>
            <a:r>
              <a:rPr lang="en-US" sz="2400">
                <a:solidFill>
                  <a:srgbClr val="0D0D0D"/>
                </a:solidFill>
                <a:latin typeface="Times New Roman"/>
                <a:cs typeface="Times New Roman"/>
              </a:rPr>
              <a:t>GitHub</a:t>
            </a:r>
            <a:r>
              <a:rPr lang="en-US" sz="2400" spc="1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20">
                <a:solidFill>
                  <a:srgbClr val="0D0D0D"/>
                </a:solidFill>
                <a:latin typeface="Times New Roman"/>
                <a:cs typeface="Times New Roman"/>
              </a:rPr>
              <a:t>Link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0400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8500" y="56015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 rot="1520339">
            <a:off x="8779241" y="2341906"/>
            <a:ext cx="2762250" cy="3257550"/>
            <a:chOff x="7991475" y="2933700"/>
            <a:chExt cx="2762250" cy="3257550"/>
          </a:xfrm>
        </p:grpSpPr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137841" y="105372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84766" y="256699"/>
            <a:ext cx="55530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5601" y="824162"/>
            <a:ext cx="9422130" cy="258699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40"/>
              </a:spcBef>
              <a:buSzPct val="125000"/>
              <a:buChar char="•"/>
              <a:tabLst>
                <a:tab pos="240665" algn="l"/>
              </a:tabLst>
            </a:pPr>
            <a:r>
              <a:rPr sz="2400" b="1" spc="-17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sz="2400" b="1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b="1" spc="-65">
                <a:solidFill>
                  <a:srgbClr val="FFFFFF"/>
                </a:solidFill>
                <a:latin typeface="Arial MT"/>
                <a:cs typeface="Arial MT"/>
              </a:rPr>
              <a:t>statement</a:t>
            </a:r>
            <a:endParaRPr sz="2400" b="1">
              <a:latin typeface="Arial MT"/>
              <a:cs typeface="Arial MT"/>
            </a:endParaRPr>
          </a:p>
          <a:p>
            <a:pPr marL="25400" marR="5080" indent="-12700">
              <a:lnSpc>
                <a:spcPct val="100400"/>
              </a:lnSpc>
              <a:spcBef>
                <a:spcPts val="2140"/>
              </a:spcBef>
              <a:buSzPct val="125000"/>
              <a:buFont typeface="Arial MT"/>
              <a:buChar char="•"/>
              <a:tabLst>
                <a:tab pos="25400" algn="l"/>
                <a:tab pos="240665" algn="l"/>
              </a:tabLst>
            </a:pPr>
            <a:r>
              <a:rPr sz="2400" spc="-135">
                <a:solidFill>
                  <a:srgbClr val="FFFFFF"/>
                </a:solidFill>
                <a:latin typeface="Calibri"/>
                <a:cs typeface="Calibri"/>
              </a:rPr>
              <a:t>	To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400" spc="-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35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>
                <a:solidFill>
                  <a:srgbClr val="FFFFFF"/>
                </a:solidFill>
                <a:latin typeface="Arial MT"/>
                <a:cs typeface="Arial MT"/>
              </a:rPr>
              <a:t>portfolio</a:t>
            </a:r>
            <a:r>
              <a:rPr sz="24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5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2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BCA</a:t>
            </a:r>
            <a:r>
              <a:rPr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profile,</a:t>
            </a:r>
            <a:r>
              <a:rPr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education,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skills,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sz="24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responsive</a:t>
            </a:r>
            <a:r>
              <a:rPr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230"/>
              </a:spcBef>
              <a:buSzPct val="125000"/>
              <a:buChar char="•"/>
              <a:tabLst>
                <a:tab pos="240665" algn="l"/>
              </a:tabLst>
            </a:pPr>
            <a:r>
              <a:rPr sz="2400" spc="-29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5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2400" spc="-30">
                <a:solidFill>
                  <a:srgbClr val="FFFFFF"/>
                </a:solidFill>
                <a:latin typeface="Arial MT"/>
                <a:cs typeface="Arial MT"/>
              </a:rPr>
              <a:t> should</a:t>
            </a:r>
            <a:r>
              <a:rPr sz="2400" spc="-3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1245" y="3804730"/>
            <a:ext cx="8463280" cy="13131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5400" marR="5080" indent="-12700">
              <a:lnSpc>
                <a:spcPct val="101699"/>
              </a:lnSpc>
              <a:spcBef>
                <a:spcPts val="50"/>
              </a:spcBef>
              <a:buSzPct val="125000"/>
              <a:buFont typeface="Arial MT"/>
              <a:buChar char="•"/>
              <a:tabLst>
                <a:tab pos="25400" algn="l"/>
                <a:tab pos="240665" algn="l"/>
              </a:tabLst>
            </a:pP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	Provide</a:t>
            </a:r>
            <a:r>
              <a:rPr sz="24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smooth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navigation</a:t>
            </a:r>
            <a:r>
              <a:rPr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4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sections</a:t>
            </a:r>
            <a:r>
              <a:rPr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4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Home,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About,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Skills,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Education,</a:t>
            </a:r>
            <a:r>
              <a:rPr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Contact.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25"/>
              </a:spcBef>
              <a:buSzPct val="125000"/>
              <a:buFont typeface="Arial MT"/>
              <a:buChar char="•"/>
              <a:tabLst>
                <a:tab pos="240665" algn="l"/>
              </a:tabLst>
            </a:pP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Present</a:t>
            </a:r>
            <a:r>
              <a:rPr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clearly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30">
                <a:solidFill>
                  <a:srgbClr val="FFFFFF"/>
                </a:solidFill>
                <a:latin typeface="Calibri"/>
                <a:cs typeface="Calibri"/>
              </a:rPr>
              <a:t>attractive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>
                <a:solidFill>
                  <a:srgbClr val="FFFFFF"/>
                </a:solidFill>
                <a:latin typeface="Calibri"/>
                <a:cs typeface="Calibri"/>
              </a:rPr>
              <a:t>layout.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6069647"/>
            <a:ext cx="394335" cy="4000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4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58225" y="2657475"/>
            <a:ext cx="3533775" cy="3810000"/>
            <a:chOff x="8658225" y="2657475"/>
            <a:chExt cx="3533775" cy="3810000"/>
          </a:xfrm>
        </p:grpSpPr>
        <p:sp>
          <p:nvSpPr>
            <p:cNvPr id="4" name="object 4"/>
            <p:cNvSpPr/>
            <p:nvPr/>
          </p:nvSpPr>
          <p:spPr>
            <a:xfrm>
              <a:off x="9353550" y="5905500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57475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012052" y="1624707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43143" y="503246"/>
            <a:ext cx="5399138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sz="3600"/>
            </a:br>
            <a:endParaRPr sz="3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3075" y="1921148"/>
            <a:ext cx="7829550" cy="2269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0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r>
              <a:rPr sz="2000" b="1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sz="2000" b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Portfolio</a:t>
            </a:r>
            <a:r>
              <a:rPr sz="2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2000">
              <a:latin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110"/>
              </a:spcBef>
              <a:buFont typeface="+mj-lt"/>
              <a:buAutoNum type="arabicPeriod"/>
            </a:pPr>
            <a:endParaRPr sz="2000">
              <a:latin typeface="Calibri"/>
              <a:cs typeface="Calibri"/>
            </a:endParaRPr>
          </a:p>
          <a:p>
            <a:pPr marL="354965" marR="1089660" indent="-342900">
              <a:lnSpc>
                <a:spcPct val="100800"/>
              </a:lnSpc>
              <a:buAutoNum type="arabicPeriod"/>
              <a:tabLst>
                <a:tab pos="379730" algn="l"/>
              </a:tabLst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000" b="1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>
                <a:solidFill>
                  <a:srgbClr val="FFFFFF"/>
                </a:solidFill>
                <a:latin typeface="Calibri"/>
                <a:cs typeface="Calibri"/>
              </a:rPr>
              <a:t>Title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:Personal</a:t>
            </a:r>
            <a:r>
              <a:rPr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FFFF"/>
                </a:solidFill>
                <a:latin typeface="Calibri"/>
                <a:cs typeface="Calibri"/>
              </a:rPr>
              <a:t>Portfolio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PAVITHRA.A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BCA</a:t>
            </a:r>
            <a:r>
              <a:rPr lang="en-US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lang="en-US" sz="2000" spc="-1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 indent="382270">
              <a:lnSpc>
                <a:spcPct val="99100"/>
              </a:lnSpc>
              <a:spcBef>
                <a:spcPts val="2140"/>
              </a:spcBef>
              <a:buAutoNum type="arabicPeriod"/>
              <a:tabLst>
                <a:tab pos="394970" algn="l"/>
              </a:tabLst>
            </a:pPr>
            <a:r>
              <a:rPr lang="en-US" sz="2000" b="1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US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1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lang="en-US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lang="en-US" sz="20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en-US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responsive portfolio</a:t>
            </a:r>
            <a:r>
              <a:rPr lang="en-US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r>
              <a:rPr lang="en-US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lang="en-US" sz="20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showcase</a:t>
            </a:r>
            <a:r>
              <a:rPr lang="en-US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r>
              <a:rPr lang="en-US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background,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skills,</a:t>
            </a:r>
            <a:r>
              <a:rPr lang="en-US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lang="en-US"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lang="en-US" sz="20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FFFF"/>
                </a:solidFill>
                <a:latin typeface="Calibri"/>
                <a:cs typeface="Calibri"/>
              </a:rPr>
              <a:t>professionally.</a:t>
            </a:r>
            <a:endParaRPr lang="en-US"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58225" y="2657475"/>
            <a:ext cx="3533775" cy="3810000"/>
            <a:chOff x="8658225" y="2657475"/>
            <a:chExt cx="3533775" cy="3810000"/>
          </a:xfrm>
        </p:grpSpPr>
        <p:sp>
          <p:nvSpPr>
            <p:cNvPr id="4" name="object 4"/>
            <p:cNvSpPr/>
            <p:nvPr/>
          </p:nvSpPr>
          <p:spPr>
            <a:xfrm>
              <a:off x="9353550" y="5905500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57475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012052" y="1624707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43143" y="503246"/>
            <a:ext cx="5399138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sz="3600"/>
            </a:br>
            <a:endParaRPr sz="3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4975" y="1355065"/>
            <a:ext cx="7829550" cy="4766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0860">
              <a:lnSpc>
                <a:spcPct val="101099"/>
              </a:lnSpc>
              <a:spcBef>
                <a:spcPts val="2125"/>
              </a:spcBef>
            </a:pPr>
            <a:r>
              <a:rPr lang="en-US" sz="2000" b="1" spc="-10">
                <a:solidFill>
                  <a:schemeClr val="bg1"/>
                </a:solidFill>
                <a:latin typeface="Calibri"/>
                <a:cs typeface="Calibri"/>
              </a:rPr>
              <a:t>3.Key Features</a:t>
            </a:r>
          </a:p>
          <a:p>
            <a:pPr marL="12700" marR="530860">
              <a:lnSpc>
                <a:spcPct val="101099"/>
              </a:lnSpc>
              <a:spcBef>
                <a:spcPts val="2125"/>
              </a:spcBef>
            </a:pPr>
            <a:r>
              <a:rPr lang="en-US" sz="2000" b="1" spc="-10">
                <a:solidFill>
                  <a:schemeClr val="bg1"/>
                </a:solidFill>
                <a:latin typeface="Calibri"/>
                <a:cs typeface="Calibri"/>
              </a:rPr>
              <a:t>Navigation</a:t>
            </a:r>
            <a:r>
              <a:rPr lang="en-US" sz="2000" b="1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Bar</a:t>
            </a:r>
            <a:r>
              <a:rPr lang="en-US" sz="2000" b="1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Links</a:t>
            </a:r>
            <a:r>
              <a:rPr lang="en-US" sz="2000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lang="en-US" sz="2000" spc="-6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Home,</a:t>
            </a:r>
            <a:r>
              <a:rPr lang="en-US" sz="2000" spc="-7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About,</a:t>
            </a:r>
            <a:r>
              <a:rPr lang="en-US" sz="2000" spc="-7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Skills,</a:t>
            </a:r>
            <a:r>
              <a:rPr lang="en-US" sz="2000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Education,</a:t>
            </a:r>
            <a:r>
              <a:rPr lang="en-US" sz="20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25">
                <a:solidFill>
                  <a:schemeClr val="bg1"/>
                </a:solidFill>
                <a:latin typeface="Calibri"/>
                <a:cs typeface="Calibri"/>
              </a:rPr>
              <a:t>and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Contact</a:t>
            </a:r>
            <a:r>
              <a:rPr lang="en-US" sz="2000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sections.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Hero</a:t>
            </a:r>
            <a:r>
              <a:rPr lang="en-US" sz="2000" b="1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Section</a:t>
            </a:r>
            <a:r>
              <a:rPr lang="en-US" sz="2000" b="1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20">
                <a:solidFill>
                  <a:schemeClr val="bg1"/>
                </a:solidFill>
                <a:latin typeface="Calibri"/>
                <a:cs typeface="Calibri"/>
              </a:rPr>
              <a:t>Displays</a:t>
            </a:r>
            <a:r>
              <a:rPr lang="en-US" sz="2000" spc="-8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name,</a:t>
            </a:r>
            <a:r>
              <a:rPr lang="en-US" sz="2000" spc="-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title,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location,</a:t>
            </a:r>
            <a:r>
              <a:rPr lang="en-US" sz="2000" spc="-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lang="en-US" sz="2000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social</a:t>
            </a:r>
            <a:r>
              <a:rPr lang="en-US" sz="2000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links.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About</a:t>
            </a:r>
            <a:r>
              <a:rPr lang="en-US" sz="2000" b="1" spc="-8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Section</a:t>
            </a:r>
            <a:r>
              <a:rPr lang="en-US" sz="2000" b="1" spc="-5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Overview</a:t>
            </a:r>
            <a:r>
              <a:rPr lang="en-US" sz="2000" spc="-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lang="en-US" sz="2000" spc="-9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education</a:t>
            </a:r>
            <a:r>
              <a:rPr lang="en-US" sz="2000" spc="-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lang="en-US" sz="20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career</a:t>
            </a:r>
            <a:r>
              <a:rPr lang="en-US" sz="2000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interests.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Skills</a:t>
            </a:r>
            <a:r>
              <a:rPr lang="en-US" sz="2000" b="1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Section</a:t>
            </a:r>
            <a:r>
              <a:rPr lang="en-US" sz="2000" b="1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Programming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skills</a:t>
            </a:r>
            <a:r>
              <a:rPr lang="en-US" sz="2000" spc="-9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in HTML, CSS &amp; </a:t>
            </a:r>
            <a:r>
              <a:rPr lang="en-US" sz="2000" err="1">
                <a:solidFill>
                  <a:schemeClr val="bg1"/>
                </a:solidFill>
                <a:latin typeface="Calibri"/>
                <a:cs typeface="Calibri"/>
              </a:rPr>
              <a:t>js</a:t>
            </a:r>
            <a:r>
              <a:rPr lang="en-US" sz="2000" spc="-25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Education</a:t>
            </a:r>
            <a:r>
              <a:rPr lang="en-US" sz="2000" b="1" spc="-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Section</a:t>
            </a:r>
            <a:r>
              <a:rPr lang="en-US" sz="2000" b="1" spc="-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20">
                <a:solidFill>
                  <a:schemeClr val="bg1"/>
                </a:solidFill>
                <a:latin typeface="Calibri"/>
                <a:cs typeface="Calibri"/>
              </a:rPr>
              <a:t>Academic</a:t>
            </a:r>
            <a:r>
              <a:rPr lang="en-US" sz="2000" spc="-9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details</a:t>
            </a:r>
            <a:r>
              <a:rPr lang="en-US" sz="2000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lang="en-US" sz="2000" spc="-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learning</a:t>
            </a:r>
            <a:r>
              <a:rPr lang="en-US" sz="2000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focus.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Contact</a:t>
            </a:r>
            <a:r>
              <a:rPr lang="en-US" sz="2000" b="1" spc="-7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Form</a:t>
            </a:r>
            <a:r>
              <a:rPr lang="en-US" sz="2000" b="1" spc="-6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Allows</a:t>
            </a:r>
            <a:r>
              <a:rPr lang="en-US" sz="2000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visitors</a:t>
            </a:r>
            <a:r>
              <a:rPr lang="en-US" sz="2000" spc="-7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lang="en-US" sz="2000" spc="-7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get</a:t>
            </a:r>
            <a:r>
              <a:rPr lang="en-US" sz="2000" spc="-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in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touch</a:t>
            </a:r>
            <a:r>
              <a:rPr lang="en-US" sz="2000" spc="-6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via</a:t>
            </a:r>
            <a:r>
              <a:rPr lang="en-US" sz="2000" spc="-6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email.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lang="en-US" sz="2000" b="1" spc="-20">
                <a:solidFill>
                  <a:schemeClr val="bg1"/>
                </a:solidFill>
                <a:latin typeface="Calibri"/>
                <a:cs typeface="Calibri"/>
              </a:rPr>
              <a:t>Responsive</a:t>
            </a:r>
            <a:r>
              <a:rPr lang="en-US" sz="2000" b="1" spc="-8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alibri"/>
                <a:cs typeface="Calibri"/>
              </a:rPr>
              <a:t>Design</a:t>
            </a:r>
            <a:r>
              <a:rPr lang="en-US" sz="2000" b="1" spc="-10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lang="en-US" sz="2000" spc="-6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Compatible</a:t>
            </a:r>
            <a:r>
              <a:rPr lang="en-US" sz="2000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with mobile</a:t>
            </a:r>
            <a:r>
              <a:rPr lang="en-US" sz="2000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lang="en-US" sz="2000" spc="-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chemeClr val="bg1"/>
                </a:solidFill>
                <a:latin typeface="Calibri"/>
                <a:cs typeface="Calibri"/>
              </a:rPr>
              <a:t>desktop</a:t>
            </a:r>
            <a:r>
              <a:rPr lang="en-US" sz="2000" spc="-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chemeClr val="bg1"/>
                </a:solidFill>
                <a:latin typeface="Calibri"/>
                <a:cs typeface="Calibri"/>
              </a:rPr>
              <a:t>devices</a:t>
            </a:r>
            <a:endParaRPr lang="en-US" sz="200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632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577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67600" y="259080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22970" y="5029200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62671" y="189479"/>
            <a:ext cx="9266808" cy="1071447"/>
          </a:xfrm>
          <a:prstGeom prst="rect">
            <a:avLst/>
          </a:prstGeom>
        </p:spPr>
        <p:txBody>
          <a:bodyPr vert="horz" wrap="square" lIns="0" tIns="512445" rIns="0" bIns="0" rtlCol="0">
            <a:spAutoFit/>
          </a:bodyPr>
          <a:lstStyle/>
          <a:p>
            <a:pPr marL="723900" algn="just">
              <a:lnSpc>
                <a:spcPct val="100000"/>
              </a:lnSpc>
              <a:spcBef>
                <a:spcPts val="130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 ?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781" y="6019800"/>
            <a:ext cx="818420" cy="7783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8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8055" y="1578240"/>
            <a:ext cx="5515610" cy="415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0"/>
              </a:spcBef>
              <a:buSzPct val="88888"/>
              <a:buAutoNum type="arabicPeriod"/>
              <a:tabLst>
                <a:tab pos="187960" algn="l"/>
              </a:tabLst>
            </a:pP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r>
              <a:rPr sz="18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Employers</a:t>
            </a:r>
            <a:r>
              <a:rPr sz="1800" b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Recruiters</a:t>
            </a:r>
            <a:endParaRPr sz="1800">
              <a:latin typeface="Calibri"/>
              <a:cs typeface="Calibri"/>
            </a:endParaRPr>
          </a:p>
          <a:p>
            <a:pPr marL="301625" marR="45720" lvl="1" indent="-287020">
              <a:lnSpc>
                <a:spcPct val="100800"/>
              </a:lnSpc>
              <a:buFont typeface="Arial MT"/>
              <a:buChar char="•"/>
              <a:tabLst>
                <a:tab pos="301625" algn="l"/>
              </a:tabLst>
            </a:pPr>
            <a:r>
              <a:rPr sz="1800" spc="-11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skills,</a:t>
            </a:r>
            <a:r>
              <a:rPr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education,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information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internships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opportunities.</a:t>
            </a:r>
            <a:endParaRPr sz="1800">
              <a:latin typeface="Calibri"/>
              <a:cs typeface="Calibri"/>
            </a:endParaRPr>
          </a:p>
          <a:p>
            <a:pPr marL="241935" indent="-226060">
              <a:lnSpc>
                <a:spcPct val="100000"/>
              </a:lnSpc>
              <a:spcBef>
                <a:spcPts val="2125"/>
              </a:spcBef>
              <a:buAutoNum type="arabicPeriod" startAt="2"/>
              <a:tabLst>
                <a:tab pos="241935" algn="l"/>
              </a:tabLst>
            </a:pP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College</a:t>
            </a:r>
            <a:r>
              <a:rPr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r>
              <a:rPr sz="1800" b="1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r>
              <a:rPr sz="18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Evaluators</a:t>
            </a:r>
            <a:endParaRPr sz="1800">
              <a:latin typeface="Calibri"/>
              <a:cs typeface="Calibri"/>
            </a:endParaRPr>
          </a:p>
          <a:p>
            <a:pPr marL="301625" marR="93345" lvl="1" indent="-287020">
              <a:lnSpc>
                <a:spcPct val="100800"/>
              </a:lnSpc>
              <a:buFont typeface="Arial MT"/>
              <a:buChar char="•"/>
              <a:tabLst>
                <a:tab pos="301625" algn="l"/>
              </a:tabLst>
            </a:pPr>
            <a:r>
              <a:rPr sz="1800" spc="-11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assess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work,</a:t>
            </a:r>
            <a:r>
              <a:rPr sz="18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presentation,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technical knowledge.</a:t>
            </a:r>
            <a:endParaRPr sz="1800">
              <a:latin typeface="Calibri"/>
              <a:cs typeface="Calibri"/>
            </a:endParaRPr>
          </a:p>
          <a:p>
            <a:pPr marL="241935" indent="-226060">
              <a:lnSpc>
                <a:spcPct val="100000"/>
              </a:lnSpc>
              <a:spcBef>
                <a:spcPts val="2195"/>
              </a:spcBef>
              <a:buAutoNum type="arabicPeriod" startAt="3"/>
              <a:tabLst>
                <a:tab pos="241935" algn="l"/>
              </a:tabLst>
            </a:pP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Peers</a:t>
            </a:r>
            <a:r>
              <a:rPr sz="1800" b="1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Collaborators</a:t>
            </a:r>
            <a:endParaRPr sz="1800">
              <a:latin typeface="Calibri"/>
              <a:cs typeface="Calibri"/>
            </a:endParaRPr>
          </a:p>
          <a:p>
            <a:pPr marL="301625" marR="5080" lvl="1" indent="-287020">
              <a:lnSpc>
                <a:spcPts val="2100"/>
              </a:lnSpc>
              <a:spcBef>
                <a:spcPts val="140"/>
              </a:spcBef>
              <a:buFont typeface="Arial MT"/>
              <a:buChar char="•"/>
              <a:tabLst>
                <a:tab pos="301625" algn="l"/>
              </a:tabLst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Fellow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students,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developers,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friends</a:t>
            </a:r>
            <a:r>
              <a:rPr sz="1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collaborate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projects.</a:t>
            </a:r>
            <a:endParaRPr sz="1800">
              <a:latin typeface="Calibri"/>
              <a:cs typeface="Calibri"/>
            </a:endParaRPr>
          </a:p>
          <a:p>
            <a:pPr marL="241935" indent="-226060">
              <a:lnSpc>
                <a:spcPct val="100000"/>
              </a:lnSpc>
              <a:spcBef>
                <a:spcPts val="2060"/>
              </a:spcBef>
              <a:buAutoNum type="arabicPeriod" startAt="4"/>
              <a:tabLst>
                <a:tab pos="241935" algn="l"/>
              </a:tabLst>
            </a:pP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General</a:t>
            </a:r>
            <a:r>
              <a:rPr sz="18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Visitors</a:t>
            </a:r>
            <a:endParaRPr sz="1800">
              <a:latin typeface="Calibri"/>
              <a:cs typeface="Calibri"/>
            </a:endParaRPr>
          </a:p>
          <a:p>
            <a:pPr marL="301625" marR="243204" lvl="1" indent="-28702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301625" algn="l"/>
              </a:tabLst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Anyone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interested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background,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skills,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journey.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360" y="1929564"/>
            <a:ext cx="2695575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84147" y="269949"/>
            <a:ext cx="9266808" cy="1022202"/>
          </a:xfrm>
          <a:prstGeom prst="rect">
            <a:avLst/>
          </a:prstGeom>
        </p:spPr>
        <p:txBody>
          <a:bodyPr vert="horz" wrap="square" lIns="0" tIns="463676" rIns="0" bIns="0" rtlCol="0">
            <a:spAutoFit/>
          </a:bodyPr>
          <a:lstStyle/>
          <a:p>
            <a:pPr marL="581660">
              <a:lnSpc>
                <a:spcPct val="100000"/>
              </a:lnSpc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96344" y="6469697"/>
            <a:ext cx="100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>
                <a:solidFill>
                  <a:srgbClr val="2C926B"/>
                </a:solidFill>
                <a:latin typeface="Trebuchet MS"/>
                <a:cs typeface="Trebuchet MS"/>
              </a:rPr>
              <a:t>9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2031332"/>
            <a:ext cx="383159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800" b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  <a:p>
            <a:pPr marL="12700" marR="307340">
              <a:lnSpc>
                <a:spcPct val="100800"/>
              </a:lnSpc>
              <a:spcBef>
                <a:spcPts val="218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HTML5</a:t>
            </a:r>
            <a:r>
              <a:rPr sz="18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website.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CSS3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Styling,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layout,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design.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80"/>
              </a:lnSpc>
              <a:spcBef>
                <a:spcPts val="7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Font</a:t>
            </a:r>
            <a:r>
              <a:rPr sz="1800" b="1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Awesome</a:t>
            </a:r>
            <a:r>
              <a:rPr sz="1800" b="1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Icons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navigation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sections.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25"/>
              </a:lnSpc>
            </a:pP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JavaScript</a:t>
            </a:r>
            <a:r>
              <a:rPr sz="1800" b="1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Interactivity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(menu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toggle,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r>
              <a:rPr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handling).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 Editor(codepen/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coder</a:t>
            </a:r>
            <a:r>
              <a:rPr sz="1800" b="1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web)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05"/>
              </a:lnSpc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writing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edit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Chrome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code.</a:t>
            </a:r>
            <a:endParaRPr sz="1800">
              <a:latin typeface="Calibri"/>
              <a:cs typeface="Calibri"/>
            </a:endParaRPr>
          </a:p>
          <a:p>
            <a:pPr marL="12700" marR="144145">
              <a:lnSpc>
                <a:spcPts val="2180"/>
              </a:lnSpc>
              <a:spcBef>
                <a:spcPts val="25"/>
              </a:spcBef>
            </a:pP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Browser(Chrome)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sz="1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website.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19891" y="6469697"/>
            <a:ext cx="1593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>
                <a:solidFill>
                  <a:srgbClr val="2C926B"/>
                </a:solidFill>
                <a:latin typeface="Trebuchet MS"/>
                <a:cs typeface="Trebuchet MS"/>
              </a:rPr>
              <a:t>11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5000" y="721393"/>
            <a:ext cx="6802755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LAYOUT</a:t>
            </a:r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058400" y="523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57400" y="1752600"/>
            <a:ext cx="6039231" cy="323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2000" b="1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218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Minimal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Look</a:t>
            </a:r>
            <a:r>
              <a:rPr sz="1800" b="1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interface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content.</a:t>
            </a:r>
            <a:endParaRPr sz="1800">
              <a:latin typeface="Calibri"/>
              <a:cs typeface="Calibri"/>
            </a:endParaRPr>
          </a:p>
          <a:p>
            <a:pPr marL="12700" marR="295275">
              <a:lnSpc>
                <a:spcPct val="150000"/>
              </a:lnSpc>
              <a:spcBef>
                <a:spcPts val="21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Font</a:t>
            </a:r>
            <a:r>
              <a:rPr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Awesome</a:t>
            </a:r>
            <a:r>
              <a:rPr sz="1800" b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Icons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appeal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navigation clarity.</a:t>
            </a:r>
            <a:endParaRPr sz="1800">
              <a:latin typeface="Calibri"/>
              <a:cs typeface="Calibri"/>
            </a:endParaRPr>
          </a:p>
          <a:p>
            <a:pPr marL="12700" marR="608330">
              <a:lnSpc>
                <a:spcPct val="150000"/>
              </a:lnSpc>
              <a:spcBef>
                <a:spcPts val="1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Color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Scheme</a:t>
            </a:r>
            <a:r>
              <a:rPr sz="1800" b="1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Soft</a:t>
            </a:r>
            <a:r>
              <a:rPr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background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readable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text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contrast.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Typography</a:t>
            </a:r>
            <a:r>
              <a:rPr sz="1800" b="1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Clear</a:t>
            </a:r>
            <a:r>
              <a:rPr sz="1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headings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readable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body</a:t>
            </a:r>
            <a:r>
              <a:rPr sz="1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text.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38200"/>
            <a:ext cx="9266808" cy="730392"/>
          </a:xfrm>
          <a:prstGeom prst="rect">
            <a:avLst/>
          </a:prstGeom>
        </p:spPr>
        <p:txBody>
          <a:bodyPr vert="horz" wrap="square" lIns="0" tIns="113728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05"/>
              </a:spcBef>
            </a:pPr>
            <a:r>
              <a:rPr lang="en-US"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4000" spc="-10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000" spc="-2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endParaRPr sz="4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1200" y="1970721"/>
            <a:ext cx="6400800" cy="2878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Functionality</a:t>
            </a:r>
            <a:endParaRPr sz="1800">
              <a:latin typeface="Calibri"/>
              <a:cs typeface="Calibri"/>
            </a:endParaRPr>
          </a:p>
          <a:p>
            <a:pPr marL="12700" marR="15875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Smooth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Scrolling</a:t>
            </a:r>
            <a:r>
              <a:rPr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between sections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navigation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links.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Clickable</a:t>
            </a:r>
            <a:r>
              <a:rPr sz="18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Social</a:t>
            </a:r>
            <a:r>
              <a:rPr sz="1800" b="1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Media</a:t>
            </a:r>
            <a:r>
              <a:rPr sz="1800" b="1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Buttons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redirect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LinkedIn.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r>
              <a:rPr sz="1800" b="1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Submission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collect</a:t>
            </a:r>
            <a:r>
              <a:rPr sz="1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visitor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messages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(can</a:t>
            </a:r>
            <a:r>
              <a:rPr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linked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email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future).</a:t>
            </a:r>
            <a:endParaRPr sz="1800">
              <a:latin typeface="Calibri"/>
              <a:cs typeface="Calibri"/>
            </a:endParaRPr>
          </a:p>
          <a:p>
            <a:pPr marL="12700" marR="107950">
              <a:lnSpc>
                <a:spcPct val="150000"/>
              </a:lnSpc>
              <a:spcBef>
                <a:spcPts val="35"/>
              </a:spcBef>
            </a:pP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Mobile-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Friendly</a:t>
            </a:r>
            <a:r>
              <a:rPr sz="1800" b="1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Layout</a:t>
            </a:r>
            <a:r>
              <a:rPr sz="18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ensuring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proper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alignment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devices.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044" y="6480492"/>
            <a:ext cx="6813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>
                <a:solidFill>
                  <a:srgbClr val="2C83C3"/>
                </a:solidFill>
                <a:latin typeface="Trebuchet MS"/>
                <a:cs typeface="Trebuchet MS"/>
              </a:rPr>
              <a:t>3/21/2024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2846" y="485205"/>
            <a:ext cx="9266808" cy="917559"/>
          </a:xfrm>
          <a:prstGeom prst="rect">
            <a:avLst/>
          </a:prstGeom>
        </p:spPr>
        <p:txBody>
          <a:bodyPr vert="horz" wrap="square" lIns="0" tIns="360045" rIns="0" bIns="0" rtlCol="0">
            <a:spAutoFit/>
          </a:bodyPr>
          <a:lstStyle/>
          <a:p>
            <a:pPr marL="763905">
              <a:lnSpc>
                <a:spcPct val="100000"/>
              </a:lnSpc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</a:t>
            </a:r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9915" y="768116"/>
            <a:ext cx="7972170" cy="5431423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40"/>
              </a:spcBef>
              <a:buSzPct val="125000"/>
              <a:tabLst>
                <a:tab pos="240665" algn="l"/>
              </a:tabLst>
            </a:pPr>
            <a:endParaRPr sz="2400">
              <a:latin typeface="Arial MT"/>
              <a:cs typeface="Arial MT"/>
            </a:endParaRPr>
          </a:p>
          <a:p>
            <a:pPr marL="240665" indent="-227965">
              <a:lnSpc>
                <a:spcPct val="150000"/>
              </a:lnSpc>
              <a:spcBef>
                <a:spcPts val="2155"/>
              </a:spcBef>
              <a:buSzPct val="125000"/>
              <a:buFont typeface="Arial MT"/>
              <a:buChar char="•"/>
              <a:tabLst>
                <a:tab pos="240665" algn="l"/>
              </a:tabLst>
            </a:pP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functional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35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24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>
                <a:solidFill>
                  <a:srgbClr val="FFFFFF"/>
                </a:solidFill>
                <a:latin typeface="Arial MT"/>
                <a:cs typeface="Arial MT"/>
              </a:rPr>
              <a:t>portfolio</a:t>
            </a:r>
            <a:r>
              <a:rPr sz="24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5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2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created.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50000"/>
              </a:lnSpc>
              <a:spcBef>
                <a:spcPts val="2150"/>
              </a:spcBef>
              <a:buSzPct val="125000"/>
              <a:buFont typeface="Arial MT"/>
              <a:buChar char="•"/>
              <a:tabLst>
                <a:tab pos="241300" algn="l"/>
              </a:tabLst>
            </a:pP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Showcases</a:t>
            </a:r>
            <a:r>
              <a:rPr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30">
                <a:solidFill>
                  <a:srgbClr val="FFFFFF"/>
                </a:solidFill>
                <a:latin typeface="Arial MT"/>
                <a:cs typeface="Arial MT"/>
              </a:rPr>
              <a:t>profile</a:t>
            </a:r>
            <a:r>
              <a:rPr sz="2400" spc="-3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25">
                <a:solidFill>
                  <a:srgbClr val="FFFFFF"/>
                </a:solidFill>
                <a:latin typeface="Arial MT"/>
                <a:cs typeface="Arial MT"/>
              </a:rPr>
              <a:t>education</a:t>
            </a:r>
            <a:r>
              <a:rPr sz="2400" spc="-125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5">
                <a:solidFill>
                  <a:srgbClr val="FFFFFF"/>
                </a:solidFill>
                <a:latin typeface="Arial MT"/>
                <a:cs typeface="Arial MT"/>
              </a:rPr>
              <a:t>skills</a:t>
            </a:r>
            <a:r>
              <a:rPr sz="2400" spc="-155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65">
                <a:solidFill>
                  <a:srgbClr val="FFFFFF"/>
                </a:solidFill>
                <a:latin typeface="Arial MT"/>
                <a:cs typeface="Arial MT"/>
              </a:rPr>
              <a:t>contact</a:t>
            </a:r>
            <a:r>
              <a:rPr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2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50000"/>
              </a:lnSpc>
            </a:pP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layout.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50000"/>
              </a:lnSpc>
              <a:spcBef>
                <a:spcPts val="2305"/>
              </a:spcBef>
              <a:buSzPct val="125000"/>
              <a:buFont typeface="Arial MT"/>
              <a:buChar char="•"/>
              <a:tabLst>
                <a:tab pos="240665" algn="l"/>
              </a:tabLst>
            </a:pP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Responsive</a:t>
            </a:r>
            <a:r>
              <a:rPr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seamlessly</a:t>
            </a:r>
            <a:r>
              <a:rPr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40">
                <a:solidFill>
                  <a:srgbClr val="FFFFFF"/>
                </a:solidFill>
                <a:latin typeface="Arial MT"/>
                <a:cs typeface="Arial MT"/>
              </a:rPr>
              <a:t>desktop</a:t>
            </a:r>
            <a:r>
              <a:rPr sz="2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50000"/>
              </a:lnSpc>
              <a:spcBef>
                <a:spcPts val="50"/>
              </a:spcBef>
              <a:buSzPct val="125000"/>
              <a:buChar char="•"/>
              <a:tabLst>
                <a:tab pos="240665" algn="l"/>
              </a:tabLst>
            </a:pPr>
            <a:r>
              <a:rPr sz="2400" spc="-125">
                <a:solidFill>
                  <a:srgbClr val="FFFFFF"/>
                </a:solidFill>
                <a:latin typeface="Arial MT"/>
                <a:cs typeface="Arial MT"/>
              </a:rPr>
              <a:t>mobile</a:t>
            </a:r>
            <a:r>
              <a:rPr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>
                <a:solidFill>
                  <a:srgbClr val="FFFFFF"/>
                </a:solidFill>
                <a:latin typeface="Calibri"/>
                <a:cs typeface="Calibri"/>
              </a:rPr>
              <a:t>devices.</a:t>
            </a:r>
            <a:endParaRPr lang="en-US" sz="2400" spc="-10">
              <a:solidFill>
                <a:srgbClr val="FFFFFF"/>
              </a:solidFill>
              <a:latin typeface="Calibri"/>
              <a:cs typeface="Calibri"/>
            </a:endParaRPr>
          </a:p>
          <a:p>
            <a:pPr marL="240665" indent="-227965">
              <a:lnSpc>
                <a:spcPct val="150000"/>
              </a:lnSpc>
              <a:spcBef>
                <a:spcPts val="50"/>
              </a:spcBef>
              <a:buSzPct val="125000"/>
              <a:buChar char="•"/>
              <a:tabLst>
                <a:tab pos="240665" algn="l"/>
              </a:tabLst>
            </a:pPr>
            <a:r>
              <a:rPr lang="en-US" sz="2400" spc="-1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lang="en-US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spc="-150">
                <a:solidFill>
                  <a:srgbClr val="FFFFFF"/>
                </a:solidFill>
                <a:latin typeface="Arial MT"/>
                <a:cs typeface="Arial MT"/>
              </a:rPr>
              <a:t>easy</a:t>
            </a:r>
            <a:r>
              <a:rPr lang="en-US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120">
                <a:solidFill>
                  <a:srgbClr val="FFFFFF"/>
                </a:solidFill>
                <a:latin typeface="Arial MT"/>
                <a:cs typeface="Arial MT"/>
              </a:rPr>
              <a:t>navigation</a:t>
            </a:r>
            <a:r>
              <a:rPr lang="en-US" sz="2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lang="en-US" sz="2400" spc="-80">
                <a:solidFill>
                  <a:srgbClr val="FFFFFF"/>
                </a:solidFill>
                <a:latin typeface="Arial MT"/>
                <a:cs typeface="Arial MT"/>
              </a:rPr>
              <a:t>direct</a:t>
            </a:r>
            <a:r>
              <a:rPr lang="en-US" sz="2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204">
                <a:solidFill>
                  <a:srgbClr val="FFFFFF"/>
                </a:solidFill>
                <a:latin typeface="Arial MT"/>
                <a:cs typeface="Arial MT"/>
              </a:rPr>
              <a:t>LinkedIn</a:t>
            </a:r>
            <a:r>
              <a:rPr lang="en-US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4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98" y="5686560"/>
            <a:ext cx="7899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4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9891" y="6469697"/>
            <a:ext cx="1593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>
                <a:solidFill>
                  <a:srgbClr val="2C926B"/>
                </a:solidFill>
                <a:latin typeface="Trebuchet MS"/>
                <a:cs typeface="Trebuchet MS"/>
              </a:rPr>
              <a:t>15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1830" y="688022"/>
            <a:ext cx="4244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Displaying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bio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highlights.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85694-CC56-0EA5-3FF4-564CB332A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06568" y="1173561"/>
            <a:ext cx="2978863" cy="49647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0" y="1295400"/>
            <a:ext cx="47472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Listing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languages.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02BC8-174F-22B7-8A28-9870ED7B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99342" y="1919261"/>
            <a:ext cx="2793315" cy="42190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73270" y="202247"/>
            <a:ext cx="353885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46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19891" y="6469697"/>
            <a:ext cx="1593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>
                <a:solidFill>
                  <a:srgbClr val="2C926B"/>
                </a:solidFill>
                <a:latin typeface="Trebuchet MS"/>
                <a:cs typeface="Trebuchet MS"/>
              </a:rPr>
              <a:t>21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2056129" y="1403667"/>
            <a:ext cx="7011671" cy="3303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Conclusion</a:t>
            </a:r>
            <a:r>
              <a:rPr spc="-40"/>
              <a:t> </a:t>
            </a:r>
            <a:r>
              <a:t>for</a:t>
            </a:r>
            <a:r>
              <a:rPr spc="-50"/>
              <a:t> </a:t>
            </a:r>
            <a:r>
              <a:rPr spc="-10"/>
              <a:t>Digital</a:t>
            </a:r>
            <a:r>
              <a:rPr spc="-65"/>
              <a:t> </a:t>
            </a:r>
            <a:r>
              <a:rPr spc="-10"/>
              <a:t>Portfolio</a:t>
            </a:r>
            <a:r>
              <a:rPr spc="-80"/>
              <a:t> </a:t>
            </a:r>
            <a:r>
              <a:rPr spc="-10"/>
              <a:t>Project</a:t>
            </a: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pc="-10"/>
          </a:p>
          <a:p>
            <a:pPr marL="1445260" marR="5080">
              <a:lnSpc>
                <a:spcPct val="100299"/>
              </a:lnSpc>
            </a:pPr>
            <a:r>
              <a:rPr b="0">
                <a:latin typeface="Calibri"/>
                <a:cs typeface="Calibri"/>
              </a:rPr>
              <a:t>“The Digital</a:t>
            </a:r>
            <a:r>
              <a:rPr b="0" spc="-3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Portfolio</a:t>
            </a:r>
            <a:r>
              <a:rPr b="0" spc="-3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effectively showcases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my</a:t>
            </a:r>
            <a:r>
              <a:rPr b="0" spc="-9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personal</a:t>
            </a:r>
            <a:r>
              <a:rPr b="0" spc="-6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profile,</a:t>
            </a:r>
            <a:r>
              <a:rPr b="0" spc="-9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academic background,</a:t>
            </a:r>
            <a:r>
              <a:rPr b="0" spc="-2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technical</a:t>
            </a:r>
            <a:r>
              <a:rPr b="0" spc="-4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skills,</a:t>
            </a:r>
            <a:r>
              <a:rPr b="0" spc="-8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1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career aspirations</a:t>
            </a:r>
            <a:r>
              <a:rPr b="0" spc="-3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in</a:t>
            </a:r>
            <a:r>
              <a:rPr b="0" spc="-7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</a:t>
            </a:r>
            <a:r>
              <a:rPr b="0" spc="-70">
                <a:latin typeface="Calibri"/>
                <a:cs typeface="Calibri"/>
              </a:rPr>
              <a:t> </a:t>
            </a:r>
            <a:r>
              <a:rPr b="0" spc="-25">
                <a:latin typeface="Calibri"/>
                <a:cs typeface="Calibri"/>
              </a:rPr>
              <a:t>organized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-2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visually </a:t>
            </a:r>
            <a:r>
              <a:rPr b="0">
                <a:latin typeface="Calibri"/>
                <a:cs typeface="Calibri"/>
              </a:rPr>
              <a:t>appealing</a:t>
            </a:r>
            <a:r>
              <a:rPr b="0" spc="-2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format.</a:t>
            </a:r>
            <a:r>
              <a:rPr b="0" spc="-2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It</a:t>
            </a:r>
            <a:r>
              <a:rPr b="0" spc="-8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serves</a:t>
            </a:r>
            <a:r>
              <a:rPr b="0" spc="-6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as</a:t>
            </a:r>
            <a:r>
              <a:rPr b="0" spc="-70">
                <a:latin typeface="Calibri"/>
                <a:cs typeface="Calibri"/>
              </a:rPr>
              <a:t> </a:t>
            </a:r>
            <a:r>
              <a:rPr b="0" spc="-50">
                <a:latin typeface="Calibri"/>
                <a:cs typeface="Calibri"/>
              </a:rPr>
              <a:t>a </a:t>
            </a:r>
            <a:r>
              <a:rPr b="0" spc="-25">
                <a:latin typeface="Calibri"/>
                <a:cs typeface="Calibri"/>
              </a:rPr>
              <a:t>professional</a:t>
            </a:r>
            <a:r>
              <a:rPr b="0" spc="-9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platform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for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potential </a:t>
            </a:r>
            <a:r>
              <a:rPr b="0" spc="-20">
                <a:latin typeface="Calibri"/>
                <a:cs typeface="Calibri"/>
              </a:rPr>
              <a:t>employers,</a:t>
            </a:r>
            <a:r>
              <a:rPr b="0" spc="-65">
                <a:latin typeface="Calibri"/>
                <a:cs typeface="Calibri"/>
              </a:rPr>
              <a:t> </a:t>
            </a:r>
            <a:r>
              <a:rPr b="0" spc="-45">
                <a:latin typeface="Calibri"/>
                <a:cs typeface="Calibri"/>
              </a:rPr>
              <a:t>faculty,</a:t>
            </a:r>
            <a:r>
              <a:rPr b="0" spc="-5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-20">
                <a:latin typeface="Calibri"/>
                <a:cs typeface="Calibri"/>
              </a:rPr>
              <a:t> collaborators</a:t>
            </a:r>
            <a:r>
              <a:rPr b="0" spc="10">
                <a:latin typeface="Calibri"/>
                <a:cs typeface="Calibri"/>
              </a:rPr>
              <a:t> </a:t>
            </a:r>
            <a:r>
              <a:rPr b="0" spc="-25">
                <a:latin typeface="Calibri"/>
                <a:cs typeface="Calibri"/>
              </a:rPr>
              <a:t>to </a:t>
            </a:r>
            <a:r>
              <a:rPr b="0">
                <a:latin typeface="Calibri"/>
                <a:cs typeface="Calibri"/>
              </a:rPr>
              <a:t>learn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about</a:t>
            </a:r>
            <a:r>
              <a:rPr b="0" spc="-8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my</a:t>
            </a:r>
            <a:r>
              <a:rPr b="0" spc="-5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abilities</a:t>
            </a:r>
            <a:r>
              <a:rPr b="0" spc="-60">
                <a:latin typeface="Calibri"/>
                <a:cs typeface="Calibri"/>
              </a:rPr>
              <a:t> </a:t>
            </a:r>
            <a:r>
              <a:rPr b="0" spc="-25">
                <a:latin typeface="Calibri"/>
                <a:cs typeface="Calibri"/>
              </a:rPr>
              <a:t>and </a:t>
            </a:r>
            <a:r>
              <a:rPr b="0" spc="-10">
                <a:latin typeface="Calibri"/>
                <a:cs typeface="Calibri"/>
              </a:rPr>
              <a:t>achievements.</a:t>
            </a:r>
            <a:r>
              <a:rPr b="0" spc="-6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The</a:t>
            </a:r>
            <a:r>
              <a:rPr b="0" spc="-2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project</a:t>
            </a:r>
            <a:r>
              <a:rPr b="0" spc="-10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demonstrates </a:t>
            </a:r>
            <a:r>
              <a:rPr b="0">
                <a:latin typeface="Calibri"/>
                <a:cs typeface="Calibri"/>
              </a:rPr>
              <a:t>my</a:t>
            </a:r>
            <a:r>
              <a:rPr b="0" spc="-7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knowledge</a:t>
            </a:r>
            <a:r>
              <a:rPr b="0" spc="-6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of</a:t>
            </a:r>
            <a:r>
              <a:rPr b="0" spc="-3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web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 spc="-20">
                <a:latin typeface="Calibri"/>
                <a:cs typeface="Calibri"/>
              </a:rPr>
              <a:t>development</a:t>
            </a:r>
            <a:r>
              <a:rPr b="0" spc="3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using </a:t>
            </a:r>
            <a:r>
              <a:rPr b="0">
                <a:latin typeface="Calibri"/>
                <a:cs typeface="Calibri"/>
              </a:rPr>
              <a:t>HTML,</a:t>
            </a:r>
            <a:r>
              <a:rPr b="0" spc="-10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CSS,</a:t>
            </a:r>
            <a:r>
              <a:rPr b="0" spc="-10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-3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JavaScript</a:t>
            </a:r>
            <a:r>
              <a:rPr b="0" spc="1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-3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highlights </a:t>
            </a:r>
            <a:r>
              <a:rPr b="0">
                <a:latin typeface="Calibri"/>
                <a:cs typeface="Calibri"/>
              </a:rPr>
              <a:t>my</a:t>
            </a:r>
            <a:r>
              <a:rPr b="0" spc="-10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capability</a:t>
            </a:r>
            <a:r>
              <a:rPr b="0" spc="-8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to</a:t>
            </a:r>
            <a:r>
              <a:rPr b="0" spc="-75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create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 spc="-30">
                <a:latin typeface="Calibri"/>
                <a:cs typeface="Calibri"/>
              </a:rPr>
              <a:t>user-</a:t>
            </a:r>
            <a:r>
              <a:rPr b="0">
                <a:latin typeface="Calibri"/>
                <a:cs typeface="Calibri"/>
              </a:rPr>
              <a:t>friendly</a:t>
            </a:r>
            <a:r>
              <a:rPr b="0" spc="-80">
                <a:latin typeface="Calibri"/>
                <a:cs typeface="Calibri"/>
              </a:rPr>
              <a:t> </a:t>
            </a:r>
            <a:r>
              <a:rPr b="0" spc="-25">
                <a:latin typeface="Calibri"/>
                <a:cs typeface="Calibri"/>
              </a:rPr>
              <a:t>and </a:t>
            </a:r>
            <a:r>
              <a:rPr b="0" spc="-10">
                <a:latin typeface="Calibri"/>
                <a:cs typeface="Calibri"/>
              </a:rPr>
              <a:t>responsive</a:t>
            </a:r>
            <a:r>
              <a:rPr b="0" spc="-10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designs.”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44732" y="5046345"/>
            <a:ext cx="29959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i="1">
                <a:solidFill>
                  <a:srgbClr val="FFFFFF"/>
                </a:solidFill>
                <a:latin typeface="Calibri"/>
                <a:cs typeface="Calibri"/>
              </a:rPr>
              <a:t>“THANK</a:t>
            </a:r>
            <a:r>
              <a:rPr sz="3950" b="1" i="1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50" b="1" i="1" spc="-20">
                <a:solidFill>
                  <a:srgbClr val="FFFFFF"/>
                </a:solidFill>
                <a:latin typeface="Calibri"/>
                <a:cs typeface="Calibri"/>
              </a:rPr>
              <a:t>YOU”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DIGITAL PORTFOLIO</vt:lpstr>
      <vt:lpstr>PROJECT TITTLE</vt:lpstr>
      <vt:lpstr>AGENDA</vt:lpstr>
      <vt:lpstr>PROBLEM STATEMENT</vt:lpstr>
      <vt:lpstr>PROJECT OVERVIEW </vt:lpstr>
      <vt:lpstr>PROJECT OVERVIEW </vt:lpstr>
      <vt:lpstr>WHO ARE THE END USERS ?</vt:lpstr>
      <vt:lpstr>TOOLS AND TECHNIQUES</vt:lpstr>
      <vt:lpstr>PORTFOLIO DESIGN LAYOUT</vt:lpstr>
      <vt:lpstr>FEATURES AND FUNCTIONALITY</vt:lpstr>
      <vt:lpstr>RESULTS AND SCREENSHOT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Admin</dc:creator>
  <cp:lastModifiedBy>kiruthika662007@gmail.com</cp:lastModifiedBy>
  <cp:revision>4</cp:revision>
  <dcterms:created xsi:type="dcterms:W3CDTF">2025-09-04T06:39:58Z</dcterms:created>
  <dcterms:modified xsi:type="dcterms:W3CDTF">2025-09-12T09:58:15Z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2025-09-03T00:00:00Z</vt:filetime>
  </property>
  <property fmtid="{D5CDD505-2E9C-101B-9397-08002B2CF9AE}" pid="3" name="LastSaved">
    <vt:filetime>2025-09-04T00:00:00Z</vt:filetime>
  </property>
</Properties>
</file>